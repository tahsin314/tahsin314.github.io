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0-2.svg" ContentType="image/svg+xml"/>
  <Override PartName="/ppt/media/image-11-2.svg" ContentType="image/svg+xml"/>
  <Override PartName="/ppt/media/image-11-4.svg" ContentType="image/svg+xml"/>
  <Override PartName="/ppt/media/image-13-2.svg" ContentType="image/svg+xml"/>
  <Override PartName="/ppt/media/image-8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F5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F5C"/>
                </a:solidFill>
                <a:latin typeface="Arial"/>
              </a:rPr>
              <a:t>Computation Time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Naïve</c:v>
                </c:pt>
              </c:strCache>
            </c:strRef>
          </c:tx>
          <c:spPr>
            <a:solidFill>
              <a:srgbClr val="003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1×10⁴</c:v>
                  </c:pt>
                  <c:pt idx="1">
                    <c:v>5×10⁴</c:v>
                  </c:pt>
                  <c:pt idx="2">
                    <c:v>1×10⁵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600</c:v>
                </c:pt>
                <c:pt idx="2">
                  <c:v>1200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Precomputed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1×10⁴</c:v>
                  </c:pt>
                  <c:pt idx="1">
                    <c:v>5×10⁴</c:v>
                  </c:pt>
                  <c:pt idx="2">
                    <c:v>1×10⁵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90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events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B262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B262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6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rpg.ifi.uzh.ch/research_dvs.html#:~:text=Event%20cameras%2C%20such%20as%20the,the%20high%20temporal%20resolution%20a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hyperlink" Target="https://en.wikipedia.org/wiki/Heat_equation#:~:text=A%20fundamental%20solution%20of%20the,see%2C%20for%20instance%2C%20Evans%20201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hyperlink" Target="https://en.wikipedia.org/wiki/Heat_equation#:~:text=A%20fundamental%20solution%20of%20the,see%2C%20for%20instance%2C%20Evans%20201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better-flow.github.io/evimo/#:~:text=EVIMO%20is%20a%20collection%20of,also%20available%20for%20most%20sequences" TargetMode="External"/><Relationship Id="rId2" Type="http://schemas.openxmlformats.org/officeDocument/2006/relationships/hyperlink" Target="https://better-flow.github.io/evimo/#:~:text=Event,without%20sacrificing%20the%20quality%20o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hyperlink" Target="https://rpg.ifi.uzh.ch/research_dvs.html#:~:text=Event%20cameras%2C%20such%20as%20the,the%20high%20temporal%20resolution%20and" TargetMode="External"/><Relationship Id="rId4" Type="http://schemas.openxmlformats.org/officeDocument/2006/relationships/hyperlink" Target="https://en.wikipedia.org/wiki/Heat_equation#:~:text=A%20fundamental%20solution%20of%20the,see%2C%20for%20instance%2C%20Evans%202010" TargetMode="External"/><Relationship Id="rId5" Type="http://schemas.openxmlformats.org/officeDocument/2006/relationships/hyperlink" Target="https://better-flow.github.io/evimo/#:~:text=EVIMO%20is%20a%20collection%20of,also%20available%20for%20most%20sequences" TargetMode="External"/><Relationship Id="rId6" Type="http://schemas.openxmlformats.org/officeDocument/2006/relationships/hyperlink" Target="https://better-flow.github.io/evimo/#:~:text=Event,without%20sacrificing%20the%20quality%20of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f870a68f-383b-44cc-a0a5-30fee93b0a49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Diffusion Inspired
</a:t>
            </a:r>
            <a:pPr algn="l" indent="0" marL="0">
              <a:buNone/>
            </a:pPr>
            <a:r>
              <a:rPr lang="en-US" sz="36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Data Analysis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566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Event‑Based Vision &amp; Physics‑Inspired Modelling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206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Tahsin Mostafiz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algn="l"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29,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Motivation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182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cameras capture asynchronous brightness changes with microsecond latency and high dynamic range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motion blur: the asynchronous event stream demands new algorithms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 can heat diffusion reveal motion patterns in event data?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0" cy="2560320"/>
          </a:xfrm>
          <a:prstGeom prst="line">
            <a:avLst/>
          </a:prstGeom>
          <a:noFill/>
          <a:ln w="1905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327648" y="960120"/>
            <a:ext cx="146304" cy="137160"/>
          </a:xfrm>
          <a:prstGeom prst="triangle">
            <a:avLst/>
          </a:prstGeom>
          <a:solidFill>
            <a:srgbClr val="003F5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0" y="731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0" y="1188720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0" y="1645920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0" y="2103120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0" y="2468880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83680" y="3200400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83680" y="3474720"/>
            <a:ext cx="137160" cy="13716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events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dot represents a brightness change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1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Diffusion &amp; Heat Kernel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3291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equation:
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∂u/∂t = k(∂²u/∂x² + ∂²u/∂y²)
</a:t>
            </a:r>
            <a:pPr indent="0" marL="0">
              <a:buNone/>
            </a:pPr>
            <a:r>
              <a:rPr lang="en-US" sz="14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solution (heat kernel):
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Φ(x,t) = 1/(4πkt) · exp(-‖x‖²/(4kt))
</a:t>
            </a:r>
            <a:pPr indent="0" marL="0">
              <a:buNone/>
            </a:pPr>
            <a:r>
              <a:rPr lang="en-US" sz="14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solution via convolution:
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u(x,t) = ∫ Φ(x-y,t) g(y) dy</a:t>
            </a:r>
            <a:endParaRPr lang="en-US" sz="1400" dirty="0"/>
          </a:p>
        </p:txBody>
      </p:sp>
      <p:pic>
        <p:nvPicPr>
          <p:cNvPr id="4" name="Image 0" descr="/home/oai/share/single_dif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18872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event diffusion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2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Diffusion Simulation</a:t>
            </a:r>
            <a:endParaRPr lang="en-US" sz="2400" dirty="0"/>
          </a:p>
        </p:txBody>
      </p:sp>
      <p:pic>
        <p:nvPicPr>
          <p:cNvPr id="3" name="Image 0" descr="/home/oai/share/single_dif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event</a:t>
            </a:r>
            <a:endParaRPr lang="en-US" sz="1000" dirty="0"/>
          </a:p>
        </p:txBody>
      </p:sp>
      <p:pic>
        <p:nvPicPr>
          <p:cNvPr id="5" name="Image 1" descr="/home/oai/share/multiple_dif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274320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events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" y="4343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spreads radially from each event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sources superpose linearly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Dirac δ, Gaussian &amp; Heat Kernels (1D &amp; 2D)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97680" cy="128016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Distribution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Peak at x=0 (t→0)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Integral ∫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Dirac 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∞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1D Gaussian (Heat Kernel)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∞ as t→0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2D Gaussian (Heat Kernel)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∞ as t→0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62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5146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1D: G₁(x,t) = (4πt)^{-1/2}·e^{−x²/(4t)}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2D: G₂(r,t) = (4πt)^{-1}·e^{−r²/(4t)}</a:t>
            </a:r>
            <a:endParaRPr lang="en-US" sz="900" dirty="0"/>
          </a:p>
        </p:txBody>
      </p:sp>
      <p:pic>
        <p:nvPicPr>
          <p:cNvPr id="5" name="Image 0" descr="/home/oai/share/heat_kernel_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88720"/>
            <a:ext cx="219456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Heat Kernel</a:t>
            </a:r>
            <a:endParaRPr lang="en-US" sz="900" dirty="0"/>
          </a:p>
        </p:txBody>
      </p:sp>
      <p:pic>
        <p:nvPicPr>
          <p:cNvPr id="7" name="Image 1" descr="/home/oai/share/single_dif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743200"/>
            <a:ext cx="1371600" cy="1371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Heat Kernel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" y="31089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kernels integrate to 1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t→0, the heat kernels become sharply peaked and converge to Dirac δ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3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Precomputation for Efficiency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Naïve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Approach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B8D8E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887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490472"/>
            <a:ext cx="91440" cy="73152"/>
          </a:xfrm>
          <a:prstGeom prst="downArrow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563624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FFE5D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5636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over all pixels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865376"/>
            <a:ext cx="91440" cy="73152"/>
          </a:xfrm>
          <a:prstGeom prst="downArrow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938528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B8D8E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19385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convolution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2240280"/>
            <a:ext cx="91440" cy="73152"/>
          </a:xfrm>
          <a:prstGeom prst="downArrow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313432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FFE5D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23134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B8D8E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11887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 kernel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490472"/>
            <a:ext cx="91440" cy="73152"/>
          </a:xfrm>
          <a:prstGeom prst="downArrow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754880" y="1563624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FFE5D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0" y="15636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window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865376"/>
            <a:ext cx="91440" cy="73152"/>
          </a:xfrm>
          <a:prstGeom prst="downArrow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754880" y="1938528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B8D8E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54880" y="19385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&amp; sum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240280"/>
            <a:ext cx="91440" cy="73152"/>
          </a:xfrm>
          <a:prstGeom prst="downArrow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54880" y="2313432"/>
            <a:ext cx="3200400" cy="301752"/>
          </a:xfrm>
          <a:prstGeom prst="roundRect">
            <a:avLst>
              <a:gd name="adj" fmla="val 15152"/>
            </a:avLst>
          </a:prstGeom>
          <a:solidFill>
            <a:srgbClr val="FFE5D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4880" y="23134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48640" y="3017520"/>
          <a:ext cx="80467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precomputation speeds up diffusion by an order of magnitude: memory usage increases but per‑event updates are constant‑time.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Precomputation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303520" cy="365760"/>
          </a:xfrm>
          <a:prstGeom prst="roundRect">
            <a:avLst>
              <a:gd name="adj" fmla="val 12500"/>
            </a:avLst>
          </a:prstGeom>
          <a:solidFill>
            <a:srgbClr val="B8D8E9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103120" y="1463040"/>
            <a:ext cx="1828800" cy="365760"/>
          </a:xfrm>
          <a:prstGeom prst="rect">
            <a:avLst/>
          </a:prstGeom>
          <a:solidFill>
            <a:srgbClr val="FDEDEB"/>
          </a:solidFill>
          <a:ln w="12700">
            <a:solidFill>
              <a:srgbClr val="E76F51"/>
            </a:solidFill>
            <a:prstDash val="dash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72768"/>
            <a:ext cx="146304" cy="146304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737360" y="1572768"/>
            <a:ext cx="146304" cy="146304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017520" y="1572768"/>
            <a:ext cx="146304" cy="14630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0" y="1572768"/>
            <a:ext cx="146304" cy="146304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0" y="1572768"/>
            <a:ext cx="146304" cy="146304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852160" y="1600200"/>
            <a:ext cx="548640" cy="91440"/>
          </a:xfrm>
          <a:prstGeom prst="rightArrow">
            <a:avLst/>
          </a:prstGeom>
          <a:solidFill>
            <a:srgbClr val="003F5C"/>
          </a:solidFill>
          <a:ln w="12700">
            <a:solidFill>
              <a:srgbClr val="003F5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806440" y="1874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fixed temporal window to process recent events only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 the heat kernel once and reuse it for incoming events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diffused heat of events inside the window onto the kernel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events outside the window to reduce computation and storage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389120" cy="2468880"/>
          </a:xfrm>
          <a:prstGeom prst="rect">
            <a:avLst/>
          </a:prstGeom>
          <a:solidFill>
            <a:srgbClr val="F2F4F4"/>
          </a:solidFill>
          <a:ln w="12700">
            <a:solidFill>
              <a:srgbClr val="D5D8D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3716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precomputeHeatKernel(alpha) {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Compute the diffusion kernel for the given diffusion coefficient α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The heat kernel is a normalised Gaussian; don't recompute per event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computeHeatKernel(alpha);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accumulateEvents(events, kernel, windowSize) {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heatmap = zeros(imageWidth, imageHeight);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(x, y, t) in events within the last windowSize {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Project the precomputed kernel onto the heatmap at the event position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heatmap += kernel placed at (x - kernel.width/2, y - kernel.height/2);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heatmap;
</a:t>
            </a:r>
            <a:pPr indent="0" marL="0">
              <a:buNone/>
            </a:pPr>
            <a:r>
              <a:rPr lang="en-US" sz="900" dirty="0">
                <a:solidFill>
                  <a:srgbClr val="1B2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20640" y="128016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non‑zero pixel within the event data, apply the diffusion equation — too slow!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 the heat kernel first; reuse it for all events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temporal window — anything outside the window is ignored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event point within the window, project the diffused heat onto the target kernel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calculate diffusion for every event: saves a lot of time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memory to store the precomputed kernel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38404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5C"/>
            </a:solidFill>
            <a:prstDash val="dash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0640" y="3840480"/>
            <a:ext cx="4023360" cy="109728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Demo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(video placeholder)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 &amp; Dataset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EVIMO captures indoor sequences with event‑based sensors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6‑DoF camera and object poses are recorded at 200 Hz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Pixelwise masks are provided at 40 Hz, alongside depth maps and RGB frames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 temporal resolution allows capturing fast motion in low‑light conditions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914400"/>
          <a:ext cx="3200400" cy="18288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Sensor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Event‑based (DVS)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Pose Frequency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200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Mask Frequency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40 Hz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Supports Depth &amp; RGB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62C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3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1"/>
              </a:rPr>
              <a:t>[3]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2"/>
              </a:rPr>
              <a:t>[4]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&amp; Parameter Sensitivity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5C"/>
            </a:solidFill>
            <a:prstDash val="dash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40280" y="2377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Video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(placeholder)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6002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Diffused heatmaps reveal underlying motion trajectories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spread of the heatmap indicates relative speeds; random noise appears as isolated blobs that quickly dissipate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288036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α produces slow diffusion, preserving detail but poorly capturing motion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α yields fast diffusion, blurring detail but capturing motion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balances spatial sharpness and temporal smoothing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Diffusion: Masked vs Unmasked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5C"/>
            </a:solidFill>
            <a:prstDash val="dash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0" y="20116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4114800" cy="19202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Unmasked Output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(video placeholder)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0" y="12801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F5C"/>
            </a:solidFill>
            <a:prstDash val="dash"/>
          </a:ln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20116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1280160"/>
            <a:ext cx="4114800" cy="192024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Output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(video placeholder)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extra information is revealed in the heatmap videos?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object appears to move faster or slower from a single frame?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trace the trajectory of the moving object?</a:t>
            </a:r>
            <a:endParaRPr lang="en-US" sz="1100" dirty="0"/>
          </a:p>
          <a:p>
            <a:pPr marL="190500" indent="-190500">
              <a:buSzPct val="100000"/>
              <a:buChar char="•"/>
            </a:pPr>
            <a:r>
              <a:rPr lang="en-US" sz="11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you say about noise in the event data?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volumes of events demand significant memory and I/O bandwidth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kernels trade increased memory usage for speed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implementation is CPU‑bound; GPU acceleration could improve scalability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moving object segmentation and predictive tasks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cameras provide microsecond‑level temporal resolution and high dynamic range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diffusion modelling provides continuous and interpretable representations of event data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kernels drastically accelerate diffusion while preserving accuracy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α allows control over spatial detail and motion capture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1B26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will extend to GPU acceleration and object segmentation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3891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3"/>
              </a:rPr>
              <a:t>[1]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4"/>
              </a:rPr>
              <a:t>[2]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5"/>
              </a:rPr>
              <a:t>[3]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  </a:t>
            </a:r>
            <a:pPr indent="0" marL="0">
              <a:buNone/>
            </a:pPr>
            <a:r>
              <a:rPr lang="en-US" sz="600" u="sng" dirty="0">
                <a:solidFill>
                  <a:srgbClr val="E76F51"/>
                </a:solidFill>
                <a:hlinkClick r:id="rId6"/>
              </a:rPr>
              <a:t>[4]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2025-07-29T02:53:52Z</dcterms:created>
  <dcterms:modified xsi:type="dcterms:W3CDTF">2025-07-29T02:53:52Z</dcterms:modified>
</cp:coreProperties>
</file>